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20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3567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31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C3155"/>
                </a:solidFill>
              </a:rPr>
              <a:t>SPAN2001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1F2733"/>
                </a:solidFill>
              </a:rPr>
              <a:t>Review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66928" y="2331720"/>
            <a:ext cx="6492240" cy="0"/>
          </a:xfrm>
          <a:prstGeom prst="line">
            <a:avLst/>
          </a:prstGeom>
          <a:noFill/>
          <a:ln w="38100">
            <a:solidFill>
              <a:srgbClr val="D96B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670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575"/>
                </a:solidFill>
              </a:rPr>
              <a:t>Grammar · Vocabulary · Reading · Writing accuracy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544068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Focus: write accurately, choose forms carefully, and check accents.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review 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41832"/>
            <a:ext cx="11064240" cy="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C3155"/>
                </a:solidFill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27048" y="14447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estar + gerundio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6B42"/>
                </a:solidFill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27048" y="252374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communicative functions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26DA5"/>
                </a:solidFill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27048" y="360273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direct &amp; indirect objects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8680" y="4654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97779"/>
                </a:solidFill>
              </a:rPr>
              <a:t>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27048" y="46817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past · present perfect · future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C3155"/>
                </a:solidFill>
              </a:rPr>
              <a:t>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059168" y="14447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time words &amp; key vocabulary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6B42"/>
                </a:solidFill>
              </a:rPr>
              <a:t>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059168" y="252374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easy points not to lose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26DA5"/>
                </a:solidFill>
              </a:rPr>
              <a:t>7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059168" y="360273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writing accuracy &amp; accent marks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32688" y="580644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6575"/>
                </a:solidFill>
              </a:rPr>
              <a:t>The goal is not to memorize answers. The goal is to control forms.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estar + gerundio: what is happening now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41832"/>
            <a:ext cx="11064240" cy="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11556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9C3155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78992" y="11155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9C3155"/>
                </a:solidFill>
              </a:rPr>
              <a:t>Structure and meaning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C3155"/>
                </a:solidFill>
              </a:rPr>
              <a:t>estar + gerundio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0" y="19019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5B6575"/>
                </a:solidFill>
              </a:rPr>
              <a:t>≈ English “be + -ing”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14400" y="2606040"/>
            <a:ext cx="10241280" cy="0"/>
          </a:xfrm>
          <a:prstGeom prst="line">
            <a:avLst/>
          </a:prstGeom>
          <a:noFill/>
          <a:ln w="13970">
            <a:solidFill>
              <a:srgbClr val="D9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733"/>
                </a:solidFill>
              </a:rPr>
              <a:t>Use it for an action in progress.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005840" y="3657600"/>
            <a:ext cx="99669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F2733"/>
                </a:solidFill>
              </a:rPr>
              <a:t>Estoy escribiendo un correo.</a:t>
            </a:r>
            <a:endParaRPr lang="en-US" sz="2500" dirty="0"/>
          </a:p>
          <a:p>
            <a:pPr marL="0" indent="0">
              <a:buNone/>
            </a:pPr>
            <a:r>
              <a:rPr lang="en-US" sz="2500" dirty="0">
                <a:solidFill>
                  <a:schemeClr val="accent2"/>
                </a:solidFill>
              </a:rPr>
              <a:t>Marta </a:t>
            </a:r>
            <a:r>
              <a:rPr lang="en-US" sz="2500" b="1" dirty="0">
                <a:solidFill>
                  <a:schemeClr val="accent2"/>
                </a:solidFill>
              </a:rPr>
              <a:t>está hablando </a:t>
            </a:r>
            <a:r>
              <a:rPr lang="en-US" sz="2500" dirty="0">
                <a:solidFill>
                  <a:schemeClr val="accent2"/>
                </a:solidFill>
              </a:rPr>
              <a:t>por teléfono.</a:t>
            </a:r>
          </a:p>
          <a:p>
            <a:pPr marL="0" indent="0">
              <a:buNone/>
            </a:pPr>
            <a:r>
              <a:rPr lang="en-US" sz="2500" dirty="0">
                <a:solidFill>
                  <a:schemeClr val="accent2"/>
                </a:solidFill>
              </a:rPr>
              <a:t>Mis amigos </a:t>
            </a:r>
            <a:r>
              <a:rPr lang="en-US" sz="2500" b="1" dirty="0">
                <a:solidFill>
                  <a:schemeClr val="accent2"/>
                </a:solidFill>
              </a:rPr>
              <a:t>están preparando </a:t>
            </a:r>
            <a:r>
              <a:rPr lang="en-US" sz="2500" dirty="0">
                <a:solidFill>
                  <a:schemeClr val="accent2"/>
                </a:solidFill>
              </a:rPr>
              <a:t>una fiesta.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estar must agree with the subject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41832"/>
            <a:ext cx="11064240" cy="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733"/>
                </a:solidFill>
              </a:rPr>
              <a:t>The verb ESTAR changes with the subject.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300" dirty="0">
                <a:solidFill>
                  <a:srgbClr val="1F2733"/>
                </a:solidFill>
              </a:rPr>
              <a:t>yo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3703320" y="1874520"/>
            <a:ext cx="0" cy="41148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1F2733"/>
                </a:solidFill>
              </a:rPr>
              <a:t>estoy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480060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31720"/>
            <a:ext cx="2743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F2733"/>
                </a:solidFill>
              </a:rPr>
              <a:t>tú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3703320" y="2377440"/>
            <a:ext cx="0" cy="41148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1F2733"/>
                </a:solidFill>
              </a:rPr>
              <a:t>estás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914400" y="2834640"/>
            <a:ext cx="480060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F2733"/>
                </a:solidFill>
              </a:rPr>
              <a:t>él / ella / usted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3703320" y="2880360"/>
            <a:ext cx="0" cy="41148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1F2733"/>
                </a:solidFill>
              </a:rPr>
              <a:t>está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914400" y="3337560"/>
            <a:ext cx="480060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337560"/>
            <a:ext cx="2743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F2733"/>
                </a:solidFill>
              </a:rPr>
              <a:t>nosotros/as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3703320" y="3383280"/>
            <a:ext cx="0" cy="41148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1F2733"/>
                </a:solidFill>
              </a:rPr>
              <a:t>estamos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914400" y="3840480"/>
            <a:ext cx="480060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840480"/>
            <a:ext cx="2743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F2733"/>
                </a:solidFill>
              </a:rPr>
              <a:t>vosotros/as</a:t>
            </a:r>
            <a:endParaRPr lang="en-US" sz="2300" dirty="0"/>
          </a:p>
        </p:txBody>
      </p:sp>
      <p:sp>
        <p:nvSpPr>
          <p:cNvPr id="22" name="Shape 20"/>
          <p:cNvSpPr/>
          <p:nvPr/>
        </p:nvSpPr>
        <p:spPr>
          <a:xfrm>
            <a:off x="3703320" y="3886200"/>
            <a:ext cx="0" cy="41148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1F2733"/>
                </a:solidFill>
              </a:rPr>
              <a:t>estáis</a:t>
            </a:r>
            <a:endParaRPr lang="en-US" sz="2300" dirty="0"/>
          </a:p>
        </p:txBody>
      </p:sp>
      <p:sp>
        <p:nvSpPr>
          <p:cNvPr id="24" name="Shape 22"/>
          <p:cNvSpPr/>
          <p:nvPr/>
        </p:nvSpPr>
        <p:spPr>
          <a:xfrm>
            <a:off x="914400" y="4343400"/>
            <a:ext cx="480060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343400"/>
            <a:ext cx="2743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F2733"/>
                </a:solidFill>
              </a:rPr>
              <a:t>ellos/as / ustedes</a:t>
            </a:r>
            <a:endParaRPr lang="en-US" sz="2300" dirty="0"/>
          </a:p>
        </p:txBody>
      </p:sp>
      <p:sp>
        <p:nvSpPr>
          <p:cNvPr id="26" name="Shape 24"/>
          <p:cNvSpPr/>
          <p:nvPr/>
        </p:nvSpPr>
        <p:spPr>
          <a:xfrm>
            <a:off x="3703320" y="4389120"/>
            <a:ext cx="0" cy="41148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4343400"/>
            <a:ext cx="1828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1F2733"/>
                </a:solidFill>
              </a:rPr>
              <a:t>están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6446520" y="1874520"/>
            <a:ext cx="484632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One person → está + gerundio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Two or more people → están + gerundio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6080760" y="1737360"/>
            <a:ext cx="0" cy="3840480"/>
          </a:xfrm>
          <a:prstGeom prst="line">
            <a:avLst/>
          </a:prstGeom>
          <a:noFill/>
          <a:ln w="13970">
            <a:solidFill>
              <a:srgbClr val="D9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3429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C3155"/>
                </a:solidFill>
              </a:rPr>
              <a:t>Accent marks matter: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446520" y="39776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C3155"/>
                </a:solidFill>
              </a:rPr>
              <a:t>está ≠ esta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9C3155"/>
                </a:solidFill>
              </a:rPr>
              <a:t>están ≠ estan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446520" y="5029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Write the tilde: está, están, estás.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How to form the gerundio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41832"/>
            <a:ext cx="11064240" cy="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97779"/>
                </a:solidFill>
              </a:rPr>
              <a:t>Regular forms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9C3155"/>
                </a:solidFill>
              </a:rPr>
              <a:t>Irregular stem changes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989320" y="1417320"/>
            <a:ext cx="0" cy="452628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4754880" cy="3931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-ar → -ando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hablar → hablando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estudiar → estudiando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trabajar → trabajando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-er / -ir → -iendo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comer → comiendo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vivir → viviendo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dormir → durmiendo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pedir → pidiendo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decir → diciendo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sentir → sintiendo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morir → muriendo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poder → </a:t>
            </a:r>
            <a:r>
              <a:rPr lang="en-US" sz="2200" dirty="0" err="1">
                <a:solidFill>
                  <a:srgbClr val="1F2733"/>
                </a:solidFill>
              </a:rPr>
              <a:t>pudiendo</a:t>
            </a:r>
            <a:endParaRPr lang="en-US" sz="2200" dirty="0">
              <a:solidFill>
                <a:srgbClr val="1F2733"/>
              </a:solidFill>
            </a:endParaRPr>
          </a:p>
          <a:p>
            <a:pPr marL="0" indent="0">
              <a:buNone/>
            </a:pPr>
            <a:r>
              <a:rPr lang="es-ES" sz="2200" dirty="0">
                <a:solidFill>
                  <a:srgbClr val="1F2733"/>
                </a:solidFill>
              </a:rPr>
              <a:t>…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C3155"/>
                </a:solidFill>
              </a:rPr>
              <a:t>Do not write *dormiendo* or *pediendo*.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Watch out for -yendo forms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41832"/>
            <a:ext cx="11064240" cy="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25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When the stem ends in a vowel, many gerunds use -yendo.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2011680"/>
            <a:ext cx="20116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733"/>
                </a:solidFill>
              </a:rPr>
              <a:t>-aer</a:t>
            </a:r>
            <a:endParaRPr lang="en-US" sz="2400" b="1" dirty="0"/>
          </a:p>
        </p:txBody>
      </p:sp>
      <p:sp>
        <p:nvSpPr>
          <p:cNvPr id="6" name="Shape 4"/>
          <p:cNvSpPr/>
          <p:nvPr/>
        </p:nvSpPr>
        <p:spPr>
          <a:xfrm>
            <a:off x="3200400" y="2057400"/>
            <a:ext cx="0" cy="566928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2011680"/>
            <a:ext cx="74980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F2733"/>
                </a:solidFill>
              </a:rPr>
              <a:t>caer → ca</a:t>
            </a:r>
            <a:r>
              <a:rPr lang="en-US" sz="2400" dirty="0">
                <a:solidFill>
                  <a:schemeClr val="accent2"/>
                </a:solidFill>
              </a:rPr>
              <a:t>y</a:t>
            </a:r>
            <a:r>
              <a:rPr lang="en-US" sz="2400" dirty="0">
                <a:solidFill>
                  <a:srgbClr val="1F2733"/>
                </a:solidFill>
              </a:rPr>
              <a:t>endo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2670048"/>
            <a:ext cx="987552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670048"/>
            <a:ext cx="20116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733"/>
                </a:solidFill>
              </a:rPr>
              <a:t>-eer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200400" y="2715768"/>
            <a:ext cx="0" cy="566928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2670048"/>
            <a:ext cx="74980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F2733"/>
                </a:solidFill>
              </a:rPr>
              <a:t>leer → le</a:t>
            </a:r>
            <a:r>
              <a:rPr lang="en-US" sz="2400" dirty="0">
                <a:solidFill>
                  <a:schemeClr val="accent2"/>
                </a:solidFill>
              </a:rPr>
              <a:t>y</a:t>
            </a:r>
            <a:r>
              <a:rPr lang="en-US" sz="2400" dirty="0">
                <a:solidFill>
                  <a:srgbClr val="1F2733"/>
                </a:solidFill>
              </a:rPr>
              <a:t>endo · creer → cre</a:t>
            </a:r>
            <a:r>
              <a:rPr lang="en-US" sz="2400" dirty="0">
                <a:solidFill>
                  <a:schemeClr val="accent2"/>
                </a:solidFill>
              </a:rPr>
              <a:t>y</a:t>
            </a:r>
            <a:r>
              <a:rPr lang="en-US" sz="2400" dirty="0">
                <a:solidFill>
                  <a:srgbClr val="1F2733"/>
                </a:solidFill>
              </a:rPr>
              <a:t>endo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43000" y="3328416"/>
            <a:ext cx="987552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328416"/>
            <a:ext cx="20116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733"/>
                </a:solidFill>
              </a:rPr>
              <a:t>-oír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200400" y="3374136"/>
            <a:ext cx="0" cy="566928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3328416"/>
            <a:ext cx="74980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F2733"/>
                </a:solidFill>
              </a:rPr>
              <a:t>oír → o</a:t>
            </a:r>
            <a:r>
              <a:rPr lang="en-US" sz="2400" dirty="0">
                <a:solidFill>
                  <a:schemeClr val="accent2"/>
                </a:solidFill>
              </a:rPr>
              <a:t>y</a:t>
            </a:r>
            <a:r>
              <a:rPr lang="en-US" sz="2400" dirty="0">
                <a:solidFill>
                  <a:srgbClr val="1F2733"/>
                </a:solidFill>
              </a:rPr>
              <a:t>endo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143000" y="3986784"/>
            <a:ext cx="987552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986784"/>
            <a:ext cx="20116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733"/>
                </a:solidFill>
              </a:rPr>
              <a:t>-uir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200400" y="4032504"/>
            <a:ext cx="0" cy="566928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3986784"/>
            <a:ext cx="74980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F2733"/>
                </a:solidFill>
              </a:rPr>
              <a:t>construir → constru</a:t>
            </a:r>
            <a:r>
              <a:rPr lang="en-US" sz="2400" dirty="0">
                <a:solidFill>
                  <a:schemeClr val="accent2"/>
                </a:solidFill>
              </a:rPr>
              <a:t>y</a:t>
            </a:r>
            <a:r>
              <a:rPr lang="en-US" sz="2400" dirty="0">
                <a:solidFill>
                  <a:srgbClr val="1F2733"/>
                </a:solidFill>
              </a:rPr>
              <a:t>endo · incluir → inclu</a:t>
            </a:r>
            <a:r>
              <a:rPr lang="en-US" sz="2400" dirty="0">
                <a:solidFill>
                  <a:schemeClr val="accent2"/>
                </a:solidFill>
              </a:rPr>
              <a:t>y</a:t>
            </a:r>
            <a:r>
              <a:rPr lang="en-US" sz="2400" dirty="0">
                <a:solidFill>
                  <a:srgbClr val="1F2733"/>
                </a:solidFill>
              </a:rPr>
              <a:t>endo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143000" y="4645152"/>
            <a:ext cx="987552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645152"/>
            <a:ext cx="20116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733"/>
                </a:solidFill>
              </a:rPr>
              <a:t>special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3200400" y="4690872"/>
            <a:ext cx="0" cy="566928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4645152"/>
            <a:ext cx="74980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F2733"/>
                </a:solidFill>
              </a:rPr>
              <a:t>ir → yendo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43000" y="5715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526DA5"/>
                </a:solidFill>
              </a:rPr>
              <a:t>Summary: not every -er verb uses -yendo. Check the stem.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Quick practice: subject + gerundio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41832"/>
            <a:ext cx="11064240" cy="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733"/>
                </a:solidFill>
              </a:rPr>
              <a:t>Transform each prompt into </a:t>
            </a:r>
            <a:r>
              <a:rPr lang="en-US" sz="2400" b="1" i="1" dirty="0">
                <a:solidFill>
                  <a:srgbClr val="1F2733"/>
                </a:solidFill>
              </a:rPr>
              <a:t>estar + gerundio</a:t>
            </a:r>
            <a:r>
              <a:rPr lang="en-US" sz="2400" b="1" dirty="0">
                <a:solidFill>
                  <a:srgbClr val="1F2733"/>
                </a:solidFill>
              </a:rPr>
              <a:t>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187452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F2733"/>
                </a:solidFill>
              </a:rPr>
              <a:t>1. Yo / preparar un café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005840" y="258775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F2733"/>
                </a:solidFill>
              </a:rPr>
              <a:t>2. Ana / leer una novela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05840" y="330098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F2733"/>
                </a:solidFill>
              </a:rPr>
              <a:t>3. Mis padres / dormir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005840" y="58978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C3155"/>
                </a:solidFill>
              </a:rPr>
              <a:t>Check three things: estar agreement · gerund form · accent marks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Communicative functions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41832"/>
            <a:ext cx="11064240" cy="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11556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D96B42"/>
                </a:solidFill>
              </a:rPr>
              <a:t>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78992" y="11155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D96B42"/>
                </a:solidFill>
              </a:rPr>
              <a:t>Recognize what the speaker is trying to do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6B42"/>
                </a:solidFill>
              </a:rPr>
              <a:t>Saludar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383280" y="17830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¿Cómo va todo?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6B42"/>
                </a:solidFill>
              </a:rPr>
              <a:t>Despedirse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383280" y="260604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¡Saludos a la familia!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6B42"/>
                </a:solidFill>
              </a:rPr>
              <a:t>Agradecer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342900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Muchísimas gracias.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42519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6B42"/>
                </a:solidFill>
              </a:rPr>
              <a:t>Presentar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425196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Este es Luis.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0" y="17830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6B42"/>
                </a:solidFill>
              </a:rPr>
              <a:t>Pedir un favor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915400" y="17830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¿Me puedes ayudar?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26060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6B42"/>
                </a:solidFill>
              </a:rPr>
              <a:t>Pedir permiso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915400" y="260604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¿Podría usar…?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0" y="34290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6B42"/>
                </a:solidFill>
              </a:rPr>
              <a:t>Pedir algo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15400" y="342900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¿Me pone un café?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594360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575"/>
                </a:solidFill>
              </a:rPr>
              <a:t>Think function first, not translation word by word.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Requests: favor, permission, service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41832"/>
            <a:ext cx="11064240" cy="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3444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Three forms look similar but do different jobs.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38404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D96B42"/>
                </a:solidFill>
              </a:rPr>
              <a:t>Function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800600" y="1874520"/>
            <a:ext cx="0" cy="566928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828800"/>
            <a:ext cx="61264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96B42"/>
                </a:solidFill>
              </a:rPr>
              <a:t>Typical expression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914400" y="2487168"/>
            <a:ext cx="1024128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87168"/>
            <a:ext cx="38404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F2733"/>
                </a:solidFill>
              </a:rPr>
              <a:t>Ask for a favor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4800600" y="2532888"/>
            <a:ext cx="0" cy="566928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487168"/>
            <a:ext cx="61264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1F2733"/>
                </a:solidFill>
              </a:rPr>
              <a:t>¿Me puedes ayudar con esto?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914400" y="3145536"/>
            <a:ext cx="1024128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145536"/>
            <a:ext cx="38404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F2733"/>
                </a:solidFill>
              </a:rPr>
              <a:t>Ask for permission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4800600" y="3191256"/>
            <a:ext cx="0" cy="566928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145536"/>
            <a:ext cx="61264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1F2733"/>
                </a:solidFill>
              </a:rPr>
              <a:t>¿Podría usar su bici?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914400" y="3803904"/>
            <a:ext cx="1024128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03904"/>
            <a:ext cx="38404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F2733"/>
                </a:solidFill>
              </a:rPr>
              <a:t>Ask for something in a shop/bar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4800600" y="3849624"/>
            <a:ext cx="0" cy="566928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803904"/>
            <a:ext cx="61264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1F2733"/>
                </a:solidFill>
              </a:rPr>
              <a:t>¿Me pone un bocadillo?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914400" y="4937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526DA5"/>
                </a:solidFill>
              </a:rPr>
              <a:t>Formality scale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914400" y="54406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¿Me pasas…?  →  ¿Te importa…?  →  ¿Le importaría…?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Direct and indirect object pronouns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41832"/>
            <a:ext cx="11064240" cy="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11556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526DA5"/>
                </a:solidFill>
              </a:rPr>
              <a:t>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78992" y="11155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526DA5"/>
                </a:solidFill>
              </a:rPr>
              <a:t>Ask two questions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26DA5"/>
                </a:solidFill>
              </a:rPr>
              <a:t>1. What thing?  →  Direct object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51560" y="2423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733"/>
                </a:solidFill>
              </a:rPr>
              <a:t>lo · la · los · las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15240" cy="1252728"/>
          </a:xfrm>
          <a:prstGeom prst="line">
            <a:avLst/>
          </a:prstGeom>
          <a:noFill/>
          <a:ln w="13970">
            <a:solidFill>
              <a:srgbClr val="D9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8288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397779"/>
                </a:solidFill>
              </a:rPr>
              <a:t>2. To/for whom?  →  Indirect object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83680" y="2423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733"/>
                </a:solidFill>
              </a:rPr>
              <a:t>le · les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C3155"/>
                </a:solidFill>
              </a:rPr>
              <a:t>Model sentence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4251960"/>
            <a:ext cx="10241280" cy="1809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500" dirty="0">
                <a:solidFill>
                  <a:srgbClr val="1F2733"/>
                </a:solidFill>
              </a:rPr>
              <a:t>—</a:t>
            </a:r>
            <a:r>
              <a:rPr lang="en-US" sz="2500" dirty="0">
                <a:solidFill>
                  <a:srgbClr val="1F2733"/>
                </a:solidFill>
              </a:rPr>
              <a:t>¿Vas a leer </a:t>
            </a:r>
            <a:r>
              <a:rPr lang="en-US" sz="2500" dirty="0" err="1">
                <a:solidFill>
                  <a:schemeClr val="accent2"/>
                </a:solidFill>
              </a:rPr>
              <a:t>este</a:t>
            </a:r>
            <a:r>
              <a:rPr lang="en-US" sz="2500" dirty="0">
                <a:solidFill>
                  <a:schemeClr val="accent2"/>
                </a:solidFill>
              </a:rPr>
              <a:t> </a:t>
            </a:r>
            <a:r>
              <a:rPr lang="en-US" sz="2500" dirty="0" err="1">
                <a:solidFill>
                  <a:schemeClr val="accent2"/>
                </a:solidFill>
              </a:rPr>
              <a:t>libro</a:t>
            </a:r>
            <a:r>
              <a:rPr lang="en-US" sz="2500" dirty="0">
                <a:solidFill>
                  <a:srgbClr val="1F2733"/>
                </a:solidFill>
              </a:rPr>
              <a:t>?</a:t>
            </a:r>
            <a:endParaRPr lang="en-US" sz="2500" dirty="0"/>
          </a:p>
          <a:p>
            <a:r>
              <a:rPr lang="en-US" sz="2500" dirty="0">
                <a:solidFill>
                  <a:srgbClr val="1F2733"/>
                </a:solidFill>
              </a:rPr>
              <a:t> </a:t>
            </a:r>
            <a:r>
              <a:rPr lang="en-US" altLang="zh-CN" sz="2500" dirty="0">
                <a:solidFill>
                  <a:srgbClr val="1F2733"/>
                </a:solidFill>
              </a:rPr>
              <a:t>—</a:t>
            </a:r>
            <a:r>
              <a:rPr lang="en-US" sz="2500" dirty="0" err="1">
                <a:solidFill>
                  <a:srgbClr val="1F2733"/>
                </a:solidFill>
              </a:rPr>
              <a:t>Sí</a:t>
            </a:r>
            <a:r>
              <a:rPr lang="en-US" sz="2500" dirty="0">
                <a:solidFill>
                  <a:srgbClr val="1F2733"/>
                </a:solidFill>
              </a:rPr>
              <a:t>, </a:t>
            </a:r>
            <a:r>
              <a:rPr lang="en-US" sz="2500" dirty="0">
                <a:solidFill>
                  <a:schemeClr val="accent2"/>
                </a:solidFill>
              </a:rPr>
              <a:t>lo</a:t>
            </a:r>
            <a:r>
              <a:rPr lang="en-US" sz="2500" dirty="0">
                <a:solidFill>
                  <a:srgbClr val="1F2733"/>
                </a:solidFill>
              </a:rPr>
              <a:t> </a:t>
            </a:r>
            <a:r>
              <a:rPr lang="en-US" sz="2500" dirty="0" err="1">
                <a:solidFill>
                  <a:srgbClr val="1F2733"/>
                </a:solidFill>
              </a:rPr>
              <a:t>voy</a:t>
            </a:r>
            <a:r>
              <a:rPr lang="en-US" sz="2500" dirty="0">
                <a:solidFill>
                  <a:srgbClr val="1F2733"/>
                </a:solidFill>
              </a:rPr>
              <a:t> a leer / </a:t>
            </a:r>
            <a:r>
              <a:rPr lang="en-US" sz="2500" dirty="0" err="1">
                <a:solidFill>
                  <a:srgbClr val="1F2733"/>
                </a:solidFill>
              </a:rPr>
              <a:t>voy</a:t>
            </a:r>
            <a:r>
              <a:rPr lang="en-US" sz="2500" dirty="0">
                <a:solidFill>
                  <a:srgbClr val="1F2733"/>
                </a:solidFill>
              </a:rPr>
              <a:t> a </a:t>
            </a:r>
            <a:r>
              <a:rPr lang="en-US" sz="2500" dirty="0" err="1">
                <a:solidFill>
                  <a:srgbClr val="1F2733"/>
                </a:solidFill>
              </a:rPr>
              <a:t>leer</a:t>
            </a:r>
            <a:r>
              <a:rPr lang="en-US" sz="2500" dirty="0" err="1">
                <a:solidFill>
                  <a:schemeClr val="accent2"/>
                </a:solidFill>
              </a:rPr>
              <a:t>lo</a:t>
            </a:r>
            <a:r>
              <a:rPr lang="en-US" sz="2500" dirty="0">
                <a:solidFill>
                  <a:srgbClr val="1F2733"/>
                </a:solidFill>
              </a:rPr>
              <a:t>.</a:t>
            </a:r>
            <a:endParaRPr lang="en-US" sz="25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The se lo / se la rule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41832"/>
            <a:ext cx="11064240" cy="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When both pronouns appear together: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C3155"/>
                </a:solidFill>
              </a:rPr>
              <a:t>le / les + lo / la / los / las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715000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B6575"/>
                </a:solidFill>
              </a:rPr>
              <a:t>→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0" y="18745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26DA5"/>
                </a:solidFill>
              </a:rPr>
              <a:t>se + lo / la / los / las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14400" y="2578608"/>
            <a:ext cx="10332720" cy="0"/>
          </a:xfrm>
          <a:prstGeom prst="line">
            <a:avLst/>
          </a:prstGeom>
          <a:noFill/>
          <a:ln w="13970">
            <a:solidFill>
              <a:srgbClr val="D9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97779"/>
                </a:solidFill>
              </a:rPr>
              <a:t>Example chain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14400" y="3547872"/>
            <a:ext cx="9875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F2733"/>
                </a:solidFill>
              </a:rPr>
              <a:t>Explico </a:t>
            </a:r>
            <a:r>
              <a:rPr lang="en-US" sz="2500" dirty="0">
                <a:solidFill>
                  <a:schemeClr val="accent2"/>
                </a:solidFill>
              </a:rPr>
              <a:t>el plan </a:t>
            </a:r>
            <a:r>
              <a:rPr lang="en-US" sz="2500" dirty="0">
                <a:solidFill>
                  <a:schemeClr val="tx2"/>
                </a:solidFill>
              </a:rPr>
              <a:t>a mis amigos</a:t>
            </a:r>
            <a:r>
              <a:rPr lang="en-US" sz="2500" dirty="0">
                <a:solidFill>
                  <a:srgbClr val="1F2733"/>
                </a:solidFill>
              </a:rPr>
              <a:t>.</a:t>
            </a:r>
            <a:endParaRPr lang="en-US" sz="2500" dirty="0"/>
          </a:p>
          <a:p>
            <a:pPr marL="0" indent="0">
              <a:buNone/>
            </a:pPr>
            <a:r>
              <a:rPr lang="en-US" sz="2500" dirty="0">
                <a:solidFill>
                  <a:srgbClr val="1F2733"/>
                </a:solidFill>
              </a:rPr>
              <a:t>→ </a:t>
            </a:r>
            <a:r>
              <a:rPr lang="en-US" sz="2500" dirty="0">
                <a:solidFill>
                  <a:schemeClr val="accent2"/>
                </a:solidFill>
              </a:rPr>
              <a:t>Lo</a:t>
            </a:r>
            <a:r>
              <a:rPr lang="en-US" sz="2500" dirty="0">
                <a:solidFill>
                  <a:srgbClr val="1F2733"/>
                </a:solidFill>
              </a:rPr>
              <a:t> explico </a:t>
            </a:r>
            <a:r>
              <a:rPr lang="en-US" sz="2500" dirty="0">
                <a:solidFill>
                  <a:schemeClr val="tx2"/>
                </a:solidFill>
              </a:rPr>
              <a:t>a mis amigos</a:t>
            </a:r>
            <a:r>
              <a:rPr lang="en-US" sz="2500" dirty="0">
                <a:solidFill>
                  <a:srgbClr val="1F2733"/>
                </a:solidFill>
              </a:rPr>
              <a:t>.</a:t>
            </a:r>
            <a:endParaRPr lang="en-US" sz="2500" dirty="0"/>
          </a:p>
          <a:p>
            <a:pPr marL="0" indent="0">
              <a:buNone/>
            </a:pPr>
            <a:r>
              <a:rPr lang="en-US" sz="2500" dirty="0">
                <a:solidFill>
                  <a:srgbClr val="1F2733"/>
                </a:solidFill>
              </a:rPr>
              <a:t>→ </a:t>
            </a:r>
            <a:r>
              <a:rPr lang="en-US" sz="2500" dirty="0">
                <a:solidFill>
                  <a:schemeClr val="tx2"/>
                </a:solidFill>
              </a:rPr>
              <a:t>Les</a:t>
            </a:r>
            <a:r>
              <a:rPr lang="en-US" sz="2500" dirty="0">
                <a:solidFill>
                  <a:srgbClr val="1F2733"/>
                </a:solidFill>
              </a:rPr>
              <a:t> explico </a:t>
            </a:r>
            <a:r>
              <a:rPr lang="en-US" sz="2500" dirty="0">
                <a:solidFill>
                  <a:schemeClr val="accent2"/>
                </a:solidFill>
              </a:rPr>
              <a:t>el plan</a:t>
            </a:r>
            <a:r>
              <a:rPr lang="en-US" sz="2500" dirty="0">
                <a:solidFill>
                  <a:srgbClr val="1F2733"/>
                </a:solidFill>
              </a:rPr>
              <a:t>.</a:t>
            </a:r>
            <a:endParaRPr lang="en-US" sz="2500" dirty="0"/>
          </a:p>
          <a:p>
            <a:pPr marL="0" indent="0">
              <a:buNone/>
            </a:pPr>
            <a:r>
              <a:rPr lang="en-US" sz="2500" dirty="0">
                <a:solidFill>
                  <a:srgbClr val="1F2733"/>
                </a:solidFill>
              </a:rPr>
              <a:t>→</a:t>
            </a:r>
            <a:r>
              <a:rPr lang="en-US" sz="2500" dirty="0">
                <a:solidFill>
                  <a:schemeClr val="tx2"/>
                </a:solidFill>
              </a:rPr>
              <a:t> Se </a:t>
            </a:r>
            <a:r>
              <a:rPr lang="en-US" sz="2500" dirty="0">
                <a:solidFill>
                  <a:srgbClr val="1F2733"/>
                </a:solidFill>
              </a:rPr>
              <a:t>lo explico.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914400" y="577900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C3155"/>
                </a:solidFill>
              </a:rPr>
              <a:t>Order: indirect object first, direct object second.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Time line: three choices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41832"/>
            <a:ext cx="11064240" cy="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2971800"/>
            <a:ext cx="9966960" cy="0"/>
          </a:xfrm>
          <a:prstGeom prst="line">
            <a:avLst/>
          </a:prstGeom>
          <a:noFill/>
          <a:ln w="25400">
            <a:solidFill>
              <a:srgbClr val="D9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C3155"/>
                </a:solidFill>
              </a:rPr>
              <a:t>Finished past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733"/>
                </a:solidFill>
              </a:rPr>
              <a:t>pretérito indefinido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74520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C3155"/>
                </a:solidFill>
              </a:rPr>
              <a:t>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F2733"/>
                </a:solidFill>
              </a:rPr>
              <a:t>ayer · el otro día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F2733"/>
                </a:solidFill>
              </a:rPr>
              <a:t>la semana pasada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343400" y="14173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6DA5"/>
                </a:solidFill>
              </a:rPr>
              <a:t>Present-linked past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206240" y="18745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733"/>
                </a:solidFill>
              </a:rPr>
              <a:t>pretérito perfecto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2080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26DA5"/>
                </a:solidFill>
              </a:rPr>
              <a:t>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069080" y="3474720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F2733"/>
                </a:solidFill>
              </a:rPr>
              <a:t>hoy · esta semana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F2733"/>
                </a:solidFill>
              </a:rPr>
              <a:t>ya · todavía no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680960" y="14173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7779"/>
                </a:solidFill>
              </a:rPr>
              <a:t>Future plan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543800" y="18745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733"/>
                </a:solidFill>
              </a:rPr>
              <a:t>ir a + infinitivo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49640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97779"/>
                </a:solidFill>
              </a:rPr>
              <a:t>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406640" y="3474720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F2733"/>
                </a:solidFill>
              </a:rPr>
              <a:t>mañana · la semana que viene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F2733"/>
                </a:solidFill>
              </a:rPr>
              <a:t>el próximo mes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97280" y="5623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C3155"/>
                </a:solidFill>
              </a:rPr>
              <a:t>Choose the tense from the time context.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Tense choice: examples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41832"/>
            <a:ext cx="11064240" cy="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17320"/>
            <a:ext cx="27432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97779"/>
                </a:solidFill>
              </a:rPr>
              <a:t>Time marker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474720" y="1463040"/>
            <a:ext cx="0" cy="64008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1417320"/>
            <a:ext cx="2880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97779"/>
                </a:solidFill>
              </a:rPr>
              <a:t>Form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355080" y="1463040"/>
            <a:ext cx="0" cy="64008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417320"/>
            <a:ext cx="4892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97779"/>
                </a:solidFill>
              </a:rPr>
              <a:t>Example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85800" y="2148840"/>
            <a:ext cx="1088136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48840"/>
            <a:ext cx="27432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733"/>
                </a:solidFill>
              </a:rPr>
              <a:t>el otro día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474720" y="2194560"/>
            <a:ext cx="0" cy="64008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148840"/>
            <a:ext cx="2880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F2733"/>
                </a:solidFill>
              </a:rPr>
              <a:t>indefinido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355080" y="2194560"/>
            <a:ext cx="0" cy="64008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48840"/>
            <a:ext cx="4892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F2733"/>
                </a:solidFill>
              </a:rPr>
              <a:t>El otro día </a:t>
            </a:r>
            <a:r>
              <a:rPr lang="en-US" sz="2100" dirty="0">
                <a:solidFill>
                  <a:schemeClr val="accent2"/>
                </a:solidFill>
              </a:rPr>
              <a:t>vi </a:t>
            </a:r>
            <a:r>
              <a:rPr lang="en-US" sz="2100" dirty="0">
                <a:solidFill>
                  <a:srgbClr val="1F2733"/>
                </a:solidFill>
              </a:rPr>
              <a:t>a Clara.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85800" y="2880360"/>
            <a:ext cx="1088136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880360"/>
            <a:ext cx="27432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733"/>
                </a:solidFill>
              </a:rPr>
              <a:t>hoy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3474720" y="2926080"/>
            <a:ext cx="0" cy="64008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880360"/>
            <a:ext cx="2880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F2733"/>
                </a:solidFill>
              </a:rPr>
              <a:t>(ES) </a:t>
            </a:r>
            <a:r>
              <a:rPr lang="en-US" sz="2100" dirty="0" err="1">
                <a:solidFill>
                  <a:srgbClr val="1F2733"/>
                </a:solidFill>
              </a:rPr>
              <a:t>pretérito</a:t>
            </a:r>
            <a:r>
              <a:rPr lang="en-US" sz="2100" dirty="0">
                <a:solidFill>
                  <a:srgbClr val="1F2733"/>
                </a:solidFill>
              </a:rPr>
              <a:t> perfecto</a:t>
            </a:r>
          </a:p>
          <a:p>
            <a:pPr marL="0" indent="0" algn="ctr">
              <a:buNone/>
            </a:pPr>
            <a:r>
              <a:rPr lang="en-US" sz="2100" dirty="0">
                <a:solidFill>
                  <a:srgbClr val="1F2733"/>
                </a:solidFill>
              </a:rPr>
              <a:t>(AL) </a:t>
            </a:r>
            <a:r>
              <a:rPr lang="en-US" sz="2100" dirty="0" err="1">
                <a:solidFill>
                  <a:srgbClr val="1F2733"/>
                </a:solidFill>
              </a:rPr>
              <a:t>indefinido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6355080" y="2926080"/>
            <a:ext cx="0" cy="64008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880360"/>
            <a:ext cx="4892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F2733"/>
                </a:solidFill>
              </a:rPr>
              <a:t>(ES) Hoy </a:t>
            </a:r>
            <a:r>
              <a:rPr lang="en-US" sz="2100" dirty="0">
                <a:solidFill>
                  <a:schemeClr val="accent2"/>
                </a:solidFill>
              </a:rPr>
              <a:t>he escrito </a:t>
            </a:r>
            <a:r>
              <a:rPr lang="en-US" sz="2100" dirty="0" err="1">
                <a:solidFill>
                  <a:srgbClr val="1F2733"/>
                </a:solidFill>
              </a:rPr>
              <a:t>mucho</a:t>
            </a:r>
            <a:r>
              <a:rPr lang="en-US" sz="2100" dirty="0">
                <a:solidFill>
                  <a:srgbClr val="1F2733"/>
                </a:solidFill>
              </a:rPr>
              <a:t>.</a:t>
            </a:r>
          </a:p>
          <a:p>
            <a:pPr marL="0" indent="0" algn="ctr">
              <a:buNone/>
            </a:pPr>
            <a:r>
              <a:rPr lang="en-US" sz="2100" dirty="0">
                <a:solidFill>
                  <a:srgbClr val="1F2733"/>
                </a:solidFill>
              </a:rPr>
              <a:t>(AL) Hoy </a:t>
            </a:r>
            <a:r>
              <a:rPr lang="en-US" sz="2100" dirty="0" err="1">
                <a:solidFill>
                  <a:schemeClr val="accent2"/>
                </a:solidFill>
              </a:rPr>
              <a:t>escribí</a:t>
            </a:r>
            <a:r>
              <a:rPr lang="en-US" sz="2100" dirty="0">
                <a:solidFill>
                  <a:srgbClr val="1F2733"/>
                </a:solidFill>
              </a:rPr>
              <a:t> </a:t>
            </a:r>
            <a:r>
              <a:rPr lang="en-US" sz="2100" dirty="0" err="1">
                <a:solidFill>
                  <a:srgbClr val="1F2733"/>
                </a:solidFill>
              </a:rPr>
              <a:t>mucho</a:t>
            </a:r>
            <a:r>
              <a:rPr lang="en-US" sz="2100" dirty="0">
                <a:solidFill>
                  <a:srgbClr val="1F2733"/>
                </a:solidFill>
              </a:rPr>
              <a:t>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685800" y="3611880"/>
            <a:ext cx="1088136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611880"/>
            <a:ext cx="27432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733"/>
                </a:solidFill>
              </a:rPr>
              <a:t>ya / todavía no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3474720" y="3657600"/>
            <a:ext cx="0" cy="64008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3611880"/>
            <a:ext cx="2880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altLang="zh-CN" sz="2100" dirty="0">
                <a:solidFill>
                  <a:srgbClr val="1F2733"/>
                </a:solidFill>
              </a:rPr>
              <a:t>(ES) </a:t>
            </a:r>
            <a:r>
              <a:rPr lang="en-US" altLang="zh-CN" sz="2100" dirty="0" err="1">
                <a:solidFill>
                  <a:srgbClr val="1F2733"/>
                </a:solidFill>
              </a:rPr>
              <a:t>pretérito</a:t>
            </a:r>
            <a:r>
              <a:rPr lang="en-US" altLang="zh-CN" sz="2100" dirty="0">
                <a:solidFill>
                  <a:srgbClr val="1F2733"/>
                </a:solidFill>
              </a:rPr>
              <a:t> perfecto</a:t>
            </a:r>
          </a:p>
          <a:p>
            <a:pPr algn="ctr"/>
            <a:r>
              <a:rPr lang="en-US" altLang="zh-CN" sz="2100" dirty="0">
                <a:solidFill>
                  <a:srgbClr val="1F2733"/>
                </a:solidFill>
              </a:rPr>
              <a:t>(AL) </a:t>
            </a:r>
            <a:r>
              <a:rPr lang="en-US" altLang="zh-CN" sz="2100" dirty="0" err="1">
                <a:solidFill>
                  <a:srgbClr val="1F2733"/>
                </a:solidFill>
              </a:rPr>
              <a:t>indefinido</a:t>
            </a:r>
            <a:endParaRPr lang="en-US" altLang="zh-CN" sz="2100" dirty="0"/>
          </a:p>
        </p:txBody>
      </p:sp>
      <p:sp>
        <p:nvSpPr>
          <p:cNvPr id="25" name="Shape 23"/>
          <p:cNvSpPr/>
          <p:nvPr/>
        </p:nvSpPr>
        <p:spPr>
          <a:xfrm>
            <a:off x="6355080" y="3657600"/>
            <a:ext cx="0" cy="64008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611880"/>
            <a:ext cx="4892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F2733"/>
                </a:solidFill>
              </a:rPr>
              <a:t>Ya </a:t>
            </a:r>
            <a:r>
              <a:rPr lang="en-US" sz="2100" dirty="0">
                <a:solidFill>
                  <a:schemeClr val="accent2"/>
                </a:solidFill>
              </a:rPr>
              <a:t>he terminado</a:t>
            </a:r>
            <a:r>
              <a:rPr lang="en-US" sz="2100" dirty="0">
                <a:solidFill>
                  <a:srgbClr val="1F2733"/>
                </a:solidFill>
              </a:rPr>
              <a:t>. / Todavía no </a:t>
            </a:r>
            <a:r>
              <a:rPr lang="en-US" sz="2100" dirty="0">
                <a:solidFill>
                  <a:schemeClr val="accent2"/>
                </a:solidFill>
              </a:rPr>
              <a:t>he </a:t>
            </a:r>
            <a:r>
              <a:rPr lang="en-US" sz="2100" dirty="0" err="1">
                <a:solidFill>
                  <a:schemeClr val="accent2"/>
                </a:solidFill>
              </a:rPr>
              <a:t>comido</a:t>
            </a:r>
            <a:r>
              <a:rPr lang="en-US" sz="2100" dirty="0">
                <a:solidFill>
                  <a:srgbClr val="1F2733"/>
                </a:solidFill>
              </a:rPr>
              <a:t>.</a:t>
            </a:r>
          </a:p>
          <a:p>
            <a:pPr algn="ctr"/>
            <a:r>
              <a:rPr lang="en-US" altLang="zh-CN" sz="2100" dirty="0">
                <a:solidFill>
                  <a:srgbClr val="1F2733"/>
                </a:solidFill>
              </a:rPr>
              <a:t>Ya </a:t>
            </a:r>
            <a:r>
              <a:rPr lang="en-US" altLang="zh-CN" sz="2100" dirty="0" err="1">
                <a:solidFill>
                  <a:schemeClr val="accent2"/>
                </a:solidFill>
              </a:rPr>
              <a:t>terminé</a:t>
            </a:r>
            <a:r>
              <a:rPr lang="en-US" altLang="zh-CN" sz="2100" dirty="0">
                <a:solidFill>
                  <a:srgbClr val="1F2733"/>
                </a:solidFill>
              </a:rPr>
              <a:t>. / </a:t>
            </a:r>
            <a:r>
              <a:rPr lang="en-US" altLang="zh-CN" sz="2100" dirty="0" err="1">
                <a:solidFill>
                  <a:srgbClr val="1F2733"/>
                </a:solidFill>
              </a:rPr>
              <a:t>Todavía</a:t>
            </a:r>
            <a:r>
              <a:rPr lang="en-US" altLang="zh-CN" sz="2100" dirty="0">
                <a:solidFill>
                  <a:srgbClr val="1F2733"/>
                </a:solidFill>
              </a:rPr>
              <a:t> no </a:t>
            </a:r>
            <a:r>
              <a:rPr lang="en-US" altLang="zh-CN" sz="2100" dirty="0" err="1">
                <a:solidFill>
                  <a:schemeClr val="accent2"/>
                </a:solidFill>
              </a:rPr>
              <a:t>comí</a:t>
            </a:r>
            <a:r>
              <a:rPr lang="en-US" altLang="zh-CN" sz="2100" dirty="0">
                <a:solidFill>
                  <a:srgbClr val="1F2733"/>
                </a:solidFill>
              </a:rPr>
              <a:t>.</a:t>
            </a:r>
          </a:p>
        </p:txBody>
      </p:sp>
      <p:sp>
        <p:nvSpPr>
          <p:cNvPr id="27" name="Shape 25"/>
          <p:cNvSpPr/>
          <p:nvPr/>
        </p:nvSpPr>
        <p:spPr>
          <a:xfrm>
            <a:off x="685800" y="4343400"/>
            <a:ext cx="1088136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343400"/>
            <a:ext cx="27432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733"/>
                </a:solidFill>
              </a:rPr>
              <a:t>el próximo mes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3474720" y="4389120"/>
            <a:ext cx="0" cy="64008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4343400"/>
            <a:ext cx="2880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F2733"/>
                </a:solidFill>
              </a:rPr>
              <a:t>ir a + infinitivo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6355080" y="4389120"/>
            <a:ext cx="0" cy="64008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4343400"/>
            <a:ext cx="4892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F2733"/>
                </a:solidFill>
              </a:rPr>
              <a:t>Voy a visitar a mis padres.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14400" y="5440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9C3155"/>
                </a:solidFill>
              </a:rPr>
              <a:t>Useful irregulars to check:</a:t>
            </a:r>
            <a:endParaRPr lang="en-US" sz="2300" dirty="0"/>
          </a:p>
        </p:txBody>
      </p:sp>
      <p:sp>
        <p:nvSpPr>
          <p:cNvPr id="34" name="Text 32"/>
          <p:cNvSpPr/>
          <p:nvPr/>
        </p:nvSpPr>
        <p:spPr>
          <a:xfrm>
            <a:off x="914400" y="58978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1F2733"/>
                </a:solidFill>
              </a:rPr>
              <a:t>hacer → </a:t>
            </a:r>
            <a:r>
              <a:rPr lang="en-US" sz="2000" dirty="0" err="1">
                <a:solidFill>
                  <a:srgbClr val="1F2733"/>
                </a:solidFill>
              </a:rPr>
              <a:t>hecho</a:t>
            </a:r>
            <a:r>
              <a:rPr lang="en-US" sz="2000" dirty="0">
                <a:solidFill>
                  <a:srgbClr val="1F2733"/>
                </a:solidFill>
              </a:rPr>
              <a:t> · decir → </a:t>
            </a:r>
            <a:r>
              <a:rPr lang="en-US" sz="2000" dirty="0" err="1">
                <a:solidFill>
                  <a:srgbClr val="1F2733"/>
                </a:solidFill>
              </a:rPr>
              <a:t>dicho</a:t>
            </a:r>
            <a:r>
              <a:rPr lang="en-US" sz="2000" dirty="0">
                <a:solidFill>
                  <a:srgbClr val="1F2733"/>
                </a:solidFill>
              </a:rPr>
              <a:t> · escribir → </a:t>
            </a:r>
            <a:r>
              <a:rPr lang="en-US" sz="2000" dirty="0" err="1">
                <a:solidFill>
                  <a:srgbClr val="1F2733"/>
                </a:solidFill>
              </a:rPr>
              <a:t>escrito</a:t>
            </a:r>
            <a:r>
              <a:rPr lang="en-US" altLang="zh-CN" sz="2000" dirty="0">
                <a:solidFill>
                  <a:srgbClr val="1F2733"/>
                </a:solidFill>
              </a:rPr>
              <a:t> · </a:t>
            </a:r>
            <a:r>
              <a:rPr lang="en-US" sz="2000" dirty="0" err="1">
                <a:solidFill>
                  <a:srgbClr val="1F2733"/>
                </a:solidFill>
              </a:rPr>
              <a:t>abrir</a:t>
            </a:r>
            <a:r>
              <a:rPr lang="en-US" sz="2000" dirty="0">
                <a:solidFill>
                  <a:srgbClr val="1F2733"/>
                </a:solidFill>
              </a:rPr>
              <a:t> </a:t>
            </a:r>
            <a:r>
              <a:rPr lang="en-US" altLang="zh-CN" sz="2000" dirty="0">
                <a:solidFill>
                  <a:srgbClr val="1F2733"/>
                </a:solidFill>
              </a:rPr>
              <a:t>→ </a:t>
            </a:r>
            <a:r>
              <a:rPr lang="en-US" altLang="zh-CN" sz="2000" dirty="0" err="1">
                <a:solidFill>
                  <a:srgbClr val="1F2733"/>
                </a:solidFill>
              </a:rPr>
              <a:t>abierto</a:t>
            </a:r>
            <a:r>
              <a:rPr lang="en-US" altLang="zh-CN" sz="2000" dirty="0">
                <a:solidFill>
                  <a:srgbClr val="1F2733"/>
                </a:solidFill>
              </a:rPr>
              <a:t> …</a:t>
            </a:r>
            <a:r>
              <a:rPr lang="en-US" sz="2000" dirty="0">
                <a:solidFill>
                  <a:srgbClr val="1F2733"/>
                </a:solidFill>
              </a:rPr>
              <a:t> 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Time words and key vocabulary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41832"/>
            <a:ext cx="11064240" cy="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9C3155"/>
                </a:solidFill>
              </a:rPr>
              <a:t>Time words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D96B42"/>
                </a:solidFill>
              </a:rPr>
              <a:t>Useful expressions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989320" y="1417320"/>
            <a:ext cx="0" cy="452628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4754880" cy="3931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ya = already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todavía no = not yet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últimamente = lately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el otro día = the other day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la semana pasada = last week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la semana que viene = next week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dentro de una semana = in one week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¡Qué rollo! = What a pain!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pasarlo bien/fenomenal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salir a cenar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ir de camping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quedar con amigos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tener ganas de + infinitivo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Easy points not to lose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41832"/>
            <a:ext cx="11064240" cy="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17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6DA5"/>
                </a:solidFill>
              </a:rPr>
              <a:t>soler + infinitivo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Suelo hacer ejercicio.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0" y="1417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97779"/>
                </a:solidFill>
              </a:rPr>
              <a:t>pensar + infinitivo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Pienso visitar un museo.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6DA5"/>
                </a:solidFill>
              </a:rPr>
              <a:t>estar + gerundio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Estoy trabajando ahora.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0" y="2651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97779"/>
                </a:solidFill>
              </a:rPr>
              <a:t>comer de todo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0" y="3108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Como de todo.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3886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6DA5"/>
                </a:solidFill>
              </a:rPr>
              <a:t>estar bueno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Este plato está muy bueno.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3886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97779"/>
                </a:solidFill>
              </a:rPr>
              <a:t>me parece + adjetivo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Me parece fenomenal.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68680" y="56235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C3155"/>
                </a:solidFill>
              </a:rPr>
              <a:t>These are small forms, but they often decide the mark.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Writing accuracy: form counts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41832"/>
            <a:ext cx="11064240" cy="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11556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526DA5"/>
                </a:solidFill>
              </a:rPr>
              <a:t>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78992" y="11155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526DA5"/>
                </a:solidFill>
              </a:rPr>
              <a:t>Good content still needs accurate spelling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C3155"/>
                </a:solidFill>
              </a:rPr>
              <a:t>Accent marks are not optional in Spanish.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F2733"/>
                </a:solidFill>
              </a:rPr>
              <a:t>If an accent mark is required and you do not write it, 0.5 marks will be deducted.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5B6575"/>
                </a:solidFill>
              </a:rPr>
              <a:t>Before submitting, check: accents · verb endings · agreement · spelling · punctuation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F2733"/>
                </a:solidFill>
              </a:rPr>
              <a:t>lapiz ✗  →  lápiz ✓     esta ✗  →  está ✓     tambien ✗  →  también ✓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Accent marks: the basic logic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41832"/>
            <a:ext cx="11064240" cy="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3444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733"/>
                </a:solidFill>
              </a:rPr>
              <a:t>Spanish has normal stress rules.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292608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26DA5"/>
                </a:solidFill>
              </a:rPr>
              <a:t>Word ending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840480" y="1874520"/>
            <a:ext cx="0" cy="667512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1828800"/>
            <a:ext cx="374904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6DA5"/>
                </a:solidFill>
              </a:rPr>
              <a:t>Normal stress position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589520" y="1874520"/>
            <a:ext cx="0" cy="667512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1828800"/>
            <a:ext cx="347472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6DA5"/>
                </a:solidFill>
              </a:rPr>
              <a:t>Example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68680" y="2587752"/>
            <a:ext cx="1037844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587752"/>
            <a:ext cx="292608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733"/>
                </a:solidFill>
              </a:rPr>
              <a:t>vowel, -n, -s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840480" y="2633472"/>
            <a:ext cx="0" cy="667512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2587752"/>
            <a:ext cx="374904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F2733"/>
                </a:solidFill>
              </a:rPr>
              <a:t>second-to-last syllable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589520" y="2633472"/>
            <a:ext cx="0" cy="667512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2587752"/>
            <a:ext cx="347472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F2733"/>
                </a:solidFill>
              </a:rPr>
              <a:t>casa · hablan · lunes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68680" y="3346704"/>
            <a:ext cx="1037844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346704"/>
            <a:ext cx="292608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733"/>
                </a:solidFill>
              </a:rPr>
              <a:t>other consonants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840480" y="3392424"/>
            <a:ext cx="0" cy="667512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3346704"/>
            <a:ext cx="374904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F2733"/>
                </a:solidFill>
              </a:rPr>
              <a:t>last syllable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589520" y="3392424"/>
            <a:ext cx="0" cy="667512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3346704"/>
            <a:ext cx="347472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F2733"/>
                </a:solidFill>
              </a:rPr>
              <a:t>hotel · español · Madrid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" y="4251960"/>
            <a:ext cx="10241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9C3155"/>
                </a:solidFill>
              </a:rPr>
              <a:t>Use an accent mark when the real stress breaks the normal rule.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914400" y="495604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2733"/>
                </a:solidFill>
              </a:rPr>
              <a:t>lápiz · canción · difícil · también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Accent case 1–2: lexical spelling and plurals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41832"/>
            <a:ext cx="11064240" cy="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9C3155"/>
                </a:solidFill>
              </a:rPr>
              <a:t>1. Some words simply have a tilde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97779"/>
                </a:solidFill>
              </a:rPr>
              <a:t>2. Singular ↔ plural can change it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989320" y="1417320"/>
            <a:ext cx="0" cy="452628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4754880" cy="3931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lápiz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fotografía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música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difícil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también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sábado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próximo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joven → jóvenes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examen → exámenes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imagen → imágenes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canción → canciones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estación → estaciones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habitación → habitaciones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61722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26DA5"/>
                </a:solidFill>
              </a:rPr>
              <a:t>The tilde can appear or disappear when the word changes form.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Accent case 3–4: verbs and attached pronouns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41832"/>
            <a:ext cx="11064240" cy="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D96B42"/>
                </a:solidFill>
              </a:rPr>
              <a:t>3. Verb conjugation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9C3155"/>
                </a:solidFill>
              </a:rPr>
              <a:t>4. Infinitive / gerund + pronouns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989320" y="1417320"/>
            <a:ext cx="0" cy="452628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4754880" cy="3931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200" dirty="0" err="1">
                <a:solidFill>
                  <a:srgbClr val="1F2733"/>
                </a:solidFill>
              </a:rPr>
              <a:t>esta</a:t>
            </a:r>
            <a:r>
              <a:rPr lang="en-US" sz="2200" dirty="0">
                <a:solidFill>
                  <a:srgbClr val="1F2733"/>
                </a:solidFill>
              </a:rPr>
              <a:t> </a:t>
            </a:r>
            <a:r>
              <a:rPr lang="en-US" altLang="zh-CN" sz="2200" dirty="0">
                <a:solidFill>
                  <a:srgbClr val="1F2733"/>
                </a:solidFill>
              </a:rPr>
              <a:t>&amp;</a:t>
            </a:r>
            <a:r>
              <a:rPr lang="zh-CN" altLang="en-US" sz="2200" dirty="0">
                <a:solidFill>
                  <a:srgbClr val="1F2733"/>
                </a:solidFill>
              </a:rPr>
              <a:t> </a:t>
            </a:r>
            <a:r>
              <a:rPr lang="en-US" sz="2200" dirty="0" err="1">
                <a:solidFill>
                  <a:srgbClr val="1F2733"/>
                </a:solidFill>
              </a:rPr>
              <a:t>está</a:t>
            </a:r>
            <a:endParaRPr lang="en-US" sz="2200" dirty="0"/>
          </a:p>
          <a:p>
            <a:pPr marL="0" indent="0">
              <a:buNone/>
            </a:pPr>
            <a:r>
              <a:rPr lang="en-US" sz="2200" dirty="0" err="1">
                <a:solidFill>
                  <a:srgbClr val="1F2733"/>
                </a:solidFill>
              </a:rPr>
              <a:t>hablo</a:t>
            </a:r>
            <a:r>
              <a:rPr lang="en-US" sz="2200" dirty="0">
                <a:solidFill>
                  <a:srgbClr val="1F2733"/>
                </a:solidFill>
              </a:rPr>
              <a:t> </a:t>
            </a:r>
            <a:r>
              <a:rPr lang="en-US" altLang="zh-CN" sz="2200" dirty="0">
                <a:solidFill>
                  <a:srgbClr val="1F2733"/>
                </a:solidFill>
              </a:rPr>
              <a:t>&amp;</a:t>
            </a:r>
            <a:r>
              <a:rPr lang="en-US" sz="2200" dirty="0">
                <a:solidFill>
                  <a:srgbClr val="1F2733"/>
                </a:solidFill>
              </a:rPr>
              <a:t> habló</a:t>
            </a:r>
            <a:endParaRPr lang="en-US" sz="2200" dirty="0"/>
          </a:p>
          <a:p>
            <a:pPr marL="0" indent="0">
              <a:buNone/>
            </a:pPr>
            <a:r>
              <a:rPr lang="en-US" sz="2200" dirty="0" err="1">
                <a:solidFill>
                  <a:srgbClr val="1F2733"/>
                </a:solidFill>
              </a:rPr>
              <a:t>trabajo</a:t>
            </a:r>
            <a:r>
              <a:rPr lang="en-US" sz="2200" dirty="0">
                <a:solidFill>
                  <a:srgbClr val="1F2733"/>
                </a:solidFill>
              </a:rPr>
              <a:t> </a:t>
            </a:r>
            <a:r>
              <a:rPr lang="en-US" altLang="zh-CN" sz="2200" dirty="0">
                <a:solidFill>
                  <a:srgbClr val="1F2733"/>
                </a:solidFill>
              </a:rPr>
              <a:t>&amp;</a:t>
            </a:r>
            <a:r>
              <a:rPr lang="en-US" sz="2200" dirty="0">
                <a:solidFill>
                  <a:srgbClr val="1F2733"/>
                </a:solidFill>
              </a:rPr>
              <a:t> trabajó</a:t>
            </a:r>
            <a:endParaRPr lang="en-US" sz="2200" dirty="0"/>
          </a:p>
          <a:p>
            <a:pPr marL="0" indent="0">
              <a:buNone/>
            </a:pPr>
            <a:r>
              <a:rPr lang="en-US" sz="2200" dirty="0" err="1">
                <a:solidFill>
                  <a:srgbClr val="1F2733"/>
                </a:solidFill>
              </a:rPr>
              <a:t>estudio</a:t>
            </a:r>
            <a:r>
              <a:rPr lang="en-US" sz="2200" dirty="0">
                <a:solidFill>
                  <a:srgbClr val="1F2733"/>
                </a:solidFill>
              </a:rPr>
              <a:t> </a:t>
            </a:r>
            <a:r>
              <a:rPr lang="en-US" altLang="zh-CN" sz="2200" dirty="0">
                <a:solidFill>
                  <a:srgbClr val="1F2733"/>
                </a:solidFill>
              </a:rPr>
              <a:t>&amp;</a:t>
            </a:r>
            <a:r>
              <a:rPr lang="en-US" sz="2200" dirty="0">
                <a:solidFill>
                  <a:srgbClr val="1F2733"/>
                </a:solidFill>
              </a:rPr>
              <a:t> </a:t>
            </a:r>
            <a:r>
              <a:rPr lang="en-US" sz="2200" dirty="0" err="1">
                <a:solidFill>
                  <a:srgbClr val="1F2733"/>
                </a:solidFill>
              </a:rPr>
              <a:t>estudió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200" dirty="0" err="1">
                <a:solidFill>
                  <a:srgbClr val="1F2733"/>
                </a:solidFill>
              </a:rPr>
              <a:t>decir</a:t>
            </a:r>
            <a:r>
              <a:rPr lang="en-US" sz="2200" dirty="0">
                <a:solidFill>
                  <a:srgbClr val="1F2733"/>
                </a:solidFill>
              </a:rPr>
              <a:t> + me + lo → decírmelo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explicar + se + lo → explicárselo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comprar + me + lo → comprármelo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decir → diciéndolo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hacer → haciéndolo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733"/>
                </a:solidFill>
              </a:rPr>
              <a:t>escribir → escribiéndola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61722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97779"/>
                </a:solidFill>
              </a:rPr>
              <a:t>When a word becomes longer, the tilde often keeps the original stress.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Accent marks can distinguish words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41832"/>
            <a:ext cx="11064240" cy="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3444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Some accents distinguish two words with the same letters.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466344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26DA5"/>
                </a:solidFill>
              </a:rPr>
              <a:t>Without accent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23560" y="1874520"/>
            <a:ext cx="0" cy="402336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0" y="1828800"/>
            <a:ext cx="466344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6DA5"/>
                </a:solidFill>
              </a:rPr>
              <a:t>With accent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2322576"/>
            <a:ext cx="996696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22576"/>
            <a:ext cx="466344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1F2733"/>
                </a:solidFill>
              </a:rPr>
              <a:t>tu = your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623560" y="2368296"/>
            <a:ext cx="0" cy="402336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2322576"/>
            <a:ext cx="466344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F2733"/>
                </a:solidFill>
              </a:rPr>
              <a:t>tú = you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14400" y="2816352"/>
            <a:ext cx="996696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16352"/>
            <a:ext cx="466344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1F2733"/>
                </a:solidFill>
              </a:rPr>
              <a:t>el = the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623560" y="2862072"/>
            <a:ext cx="0" cy="402336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2816352"/>
            <a:ext cx="466344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F2733"/>
                </a:solidFill>
              </a:rPr>
              <a:t>él = he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14400" y="3310128"/>
            <a:ext cx="996696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310128"/>
            <a:ext cx="466344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1F2733"/>
                </a:solidFill>
              </a:rPr>
              <a:t>mi = my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623560" y="3355848"/>
            <a:ext cx="0" cy="402336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3310128"/>
            <a:ext cx="466344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F2733"/>
                </a:solidFill>
              </a:rPr>
              <a:t>mí = me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14400" y="3803904"/>
            <a:ext cx="996696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803904"/>
            <a:ext cx="466344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1F2733"/>
                </a:solidFill>
              </a:rPr>
              <a:t>si = if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623560" y="3849624"/>
            <a:ext cx="0" cy="402336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3803904"/>
            <a:ext cx="466344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F2733"/>
                </a:solidFill>
              </a:rPr>
              <a:t>sí = yes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14400" y="4297680"/>
            <a:ext cx="996696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297680"/>
            <a:ext cx="466344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1F2733"/>
                </a:solidFill>
              </a:rPr>
              <a:t>que = that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623560" y="4343400"/>
            <a:ext cx="0" cy="402336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4297680"/>
            <a:ext cx="466344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F2733"/>
                </a:solidFill>
              </a:rPr>
              <a:t>qué = what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14400" y="4791456"/>
            <a:ext cx="996696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791456"/>
            <a:ext cx="466344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1F2733"/>
                </a:solidFill>
              </a:rPr>
              <a:t>como = like/as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5623560" y="4837176"/>
            <a:ext cx="0" cy="402336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4791456"/>
            <a:ext cx="466344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F2733"/>
                </a:solidFill>
              </a:rPr>
              <a:t>cómo = how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14400" y="60807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9C3155"/>
                </a:solidFill>
              </a:rPr>
              <a:t>Question words usually need a tilde: qué · cómo · dónde · cuándo · cuál.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checklist before submitting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41832"/>
            <a:ext cx="11064240" cy="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234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97779"/>
                </a:solidFill>
              </a:rPr>
              <a:t>✓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600200" y="123444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Did I choose the correct tense from the time context?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192938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97779"/>
                </a:solidFill>
              </a:rPr>
              <a:t>✓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600200" y="1929384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Do my verbs agree with the subject?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1560" y="26243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97779"/>
                </a:solidFill>
              </a:rPr>
              <a:t>✓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600200" y="262432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Did I check OD / OI pronouns and se lo / se la?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51560" y="33192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97779"/>
                </a:solidFill>
              </a:rPr>
              <a:t>✓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600200" y="331927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Did I use the correct formality level?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51560" y="40142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97779"/>
                </a:solidFill>
              </a:rPr>
              <a:t>✓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600200" y="4014216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Did I write all required accent marks?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51560" y="4709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97779"/>
                </a:solidFill>
              </a:rPr>
              <a:t>✓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1600200" y="470916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733"/>
                </a:solidFill>
              </a:rPr>
              <a:t>Did I check spelling and agreement?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05840" y="5532120"/>
            <a:ext cx="10058400" cy="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81558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C3155"/>
                </a:solidFill>
              </a:rPr>
              <a:t>Write carefully. Small marks matter.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1415</Words>
  <Application>Microsoft Macintosh PowerPoint</Application>
  <PresentationFormat>宽屏</PresentationFormat>
  <Paragraphs>312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4" baseType="lpstr">
      <vt:lpstr>Aptos Display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The University of Hong Kong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SPAN2001 Progress Test 1 Review</dc:title>
  <dc:subject>SPAN2001 Progress Test 1 Review</dc:subject>
  <dc:creator>Doctor Song Yang Alejandro</dc:creator>
  <cp:lastModifiedBy>Yang SONG</cp:lastModifiedBy>
  <cp:revision>21</cp:revision>
  <dcterms:created xsi:type="dcterms:W3CDTF">2026-10-05T08:16:48Z</dcterms:created>
  <dcterms:modified xsi:type="dcterms:W3CDTF">2026-10-05T08:45:31Z</dcterms:modified>
</cp:coreProperties>
</file>